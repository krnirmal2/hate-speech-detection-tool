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CD47-A5E1-78BB-8CAE-0FA82C5FB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E6771-23C8-0E51-B298-AE6E04F61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E7021-FA50-E4AD-3085-7465608F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8F0ED-39BB-4108-364C-E91CA051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B7D97-FED2-D5F8-6F23-9DD874E4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19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C28B-6FFC-2087-376C-A40107EE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A5DC4-8E7A-AF2E-84FC-58F4AC50C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6DF49-E30E-E068-753B-46C38FE1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4B06-469D-6A73-DBE7-9D401555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A93E3-EDFE-8CC6-BCE7-F656140E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34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DF54-4990-379B-91AE-9450E136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F58C7-3474-78BB-75C5-928F47E15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CC175-132B-D9F1-6A14-79B5C1B1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365A4-CDB9-8BAF-101F-3195EF31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08561-D249-7098-BA4C-1443886A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28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2AD4-8727-B31B-20A8-5B9D5D74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9022B-D246-97C4-79E6-989A6CAF2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D1946-DE95-4A71-C0E7-2FEA3F0A4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37894-BBEF-0886-8BEB-884F1478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E0FC9-11A4-4D41-E8EE-04EA3996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B974-D2F1-305D-09F4-2FC3FFD8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30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B428-417D-25AD-5999-32920C42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983B4-DB18-FB01-C73A-803DF8978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3AE29-D647-7246-D901-8E876BD69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889C7-1622-CD01-7E55-EF8EAE7D6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25492-E6DD-9089-2F03-B24D5C14A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67554-80B9-0EE6-1638-B34325EF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04071-6240-22F0-B6ED-7ACB0903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C54704-2973-C70A-0C25-B45B21C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83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9B59-1E10-549E-D119-D126DB5B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0D960-68ED-47C0-F077-60DEB3931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9D7FE-F483-4665-9C1D-B1466CC7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242C-6F23-3935-03B2-7F5C86AE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80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B5FF5-7D9F-1EBF-C66C-47BF533E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E075D-5762-10D7-5967-8696D8869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38D21-E16E-E36C-D13B-F0795FBF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13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DE44-17DC-29C4-4005-1EB9A6999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48FB-F185-1982-B513-954A87F71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FBB63-DE51-1038-DB22-D4BE893D5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50C02-50E4-03E2-0805-B403D981D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F7C6F-6FF7-CA1B-0B47-73A0BC1A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B2143-47A7-2D4F-38DC-3221AB1E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7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4AF4-FEFE-675B-19C0-02840991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C6288-BC73-DCEE-5904-65898E08E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B53B6-EEFB-76EB-2150-ED17E1A66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B3BB5-6447-EE17-3875-13F01E03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DCF5F-6172-6F8F-711B-A3F9CCD1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BDE75-C627-3890-4665-FE8016D8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3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DFC8-8902-8E60-4B47-C66BB663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A851F-7713-65F6-568E-F84C3C61C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30859-4BD5-D8F0-B9DC-F1EFD696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DB3CD-0B1E-3ABD-AD6A-2ADFFF8C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2DFBE-E96F-8A46-BA61-DED9F60A1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82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82006-0E89-C358-7304-BFCA9ACF1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D61A2-858E-B403-4E68-D609B600D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03D7F-2C67-050A-4290-EF71C7D8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235A5-6DEE-489E-1F4A-CFFBCED1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F9700-2660-F276-878A-A84F6252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17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096F04-6C10-B0C7-390E-674760C9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54596-5972-0C60-2C74-4A8181D5B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F347D-A63F-1E89-475D-A1FA42370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828B1-20EB-43F3-80CC-1BDB0828EC46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604A6-3686-4BC6-076C-D78CD7D4D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F6644-39B3-D74A-D559-E63491A85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2EC3C-860D-4E4A-A752-31EBB1B83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7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PIC &#10;Detection Of Jihadism In Social Network &#10;Using Big Data Techniques Supported By &#10;Graphs And Fuzzy Clustering ">
            <a:extLst>
              <a:ext uri="{FF2B5EF4-FFF2-40B4-BE49-F238E27FC236}">
                <a16:creationId xmlns:a16="http://schemas.microsoft.com/office/drawing/2014/main" id="{C3AFE1E9-B4FD-C775-262E-286E76FCA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37" y="1008403"/>
            <a:ext cx="8828340" cy="621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134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tents &#10;1 . Introduction &#10;2. Description of methodology &#10;3. Result and discussion &#10;4. Data availability &#10;5. Application ">
            <a:extLst>
              <a:ext uri="{FF2B5EF4-FFF2-40B4-BE49-F238E27FC236}">
                <a16:creationId xmlns:a16="http://schemas.microsoft.com/office/drawing/2014/main" id="{D9039FA5-6B51-6027-7FF9-DC68E62DD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28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. Description of methodology architecture &#10;2. &#10;3. &#10;4. &#10;5. &#10;6. &#10;Big data architecture &#10;Fuzzy architecture to isolate the suspicious profiles &#10;Tweet extraction technique &#10;Information preprocessing &#10;Graphing the network &#10;Fuzzy segmentation ">
            <a:extLst>
              <a:ext uri="{FF2B5EF4-FFF2-40B4-BE49-F238E27FC236}">
                <a16:creationId xmlns:a16="http://schemas.microsoft.com/office/drawing/2014/main" id="{9E981432-5D0B-2F99-0528-F67236BEB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53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echnique Used Here.. &#10;Social network analysis. &#10;Sentiment analyze of messages. &#10;Graph (uses impact on each user in network) &#10;Fuzzy clustering techniques( classify users in profiles) ">
            <a:extLst>
              <a:ext uri="{FF2B5EF4-FFF2-40B4-BE49-F238E27FC236}">
                <a16:creationId xmlns:a16="http://schemas.microsoft.com/office/drawing/2014/main" id="{15A6A0DD-B297-699F-BE8F-69B4BFCC2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33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2. &#10;3. &#10;4. &#10;5. &#10;steps... &#10;Acquire information from Kaggle's database and twitter user's accounts &#10;filtered less and most active users (generating info And retweeted info from other) &#10;Sentiment analysis of the messages(using different parameter from the msg) &#10;Create Network graph (using the relationship among users to apply centrality &#10;measures ) &#10;Fuzzy clustering (assigning profiles to the users) ">
            <a:extLst>
              <a:ext uri="{FF2B5EF4-FFF2-40B4-BE49-F238E27FC236}">
                <a16:creationId xmlns:a16="http://schemas.microsoft.com/office/drawing/2014/main" id="{7171F801-A31A-F0A4-6FFD-BE9BE76CA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382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orial Representation &#10;kaggle &#10;FIGURE 1: Stages Of the procedure to select hidden Twitter profiles. ">
            <a:extLst>
              <a:ext uri="{FF2B5EF4-FFF2-40B4-BE49-F238E27FC236}">
                <a16:creationId xmlns:a16="http://schemas.microsoft.com/office/drawing/2014/main" id="{A314F0E3-82C2-2F93-76C4-3FE943CDD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95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weet extraction &#10;Different Sources &#10;Primary source (collect the base &#10;information of users actively spread &#10;terrorist contents) &#10;Secondary sources (get familiar &#10;with vocabulary used by user in &#10;social propaganda) &#10;kaggle &#10;Forums, Wafa Media Foundation &#10;FIGURE 2: Tweet extraction sources. ">
            <a:extLst>
              <a:ext uri="{FF2B5EF4-FFF2-40B4-BE49-F238E27FC236}">
                <a16:creationId xmlns:a16="http://schemas.microsoft.com/office/drawing/2014/main" id="{629FC9BE-F271-258A-F4B3-F03A7CBB5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655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ataset After filtration of data &#10;Name, Username, Description, Location, Number of followers (at the time the tweet was &#10;downloaded), Number of statuses by the user (when the tweet was downloaded), Date and &#10;timestamp of the tweet, the tweet itself &#10;pm Kaggle ">
            <a:extLst>
              <a:ext uri="{FF2B5EF4-FFF2-40B4-BE49-F238E27FC236}">
                <a16:creationId xmlns:a16="http://schemas.microsoft.com/office/drawing/2014/main" id="{5E3C6C89-F328-631D-E4F1-AFBFA0B0B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0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nformation Preprocessing &#10;Attributes &#10;Frequency (calculate interval of sending tweet) &#10;Sentiment (polarize the tweets in + and -) &#10;Regular expression (extract mentioned or retweet user) ">
            <a:extLst>
              <a:ext uri="{FF2B5EF4-FFF2-40B4-BE49-F238E27FC236}">
                <a16:creationId xmlns:a16="http://schemas.microsoft.com/office/drawing/2014/main" id="{6930A43B-DD8C-E75E-7669-3351C992F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97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entiment analysis for input in fuzzy &#10;clustering &#10;Which clergy do pro-ISIS fanboys quote the most and which ones do they &#10;hate the most? &#10;Search the tweet for names of prominent clergy and classify the tweet as &#10;positive, negative, or neutral accordingly the term used below &#10;America, Christianity,IsIam,IsraeI,Judaism,Mubarak,PaIestine,AI-qaeda &#10;Classify each tweet as positive , negative and neutral &#10;This output feed to the fuzzy clustering for detecting dangerous suspicious &#10;node ">
            <a:extLst>
              <a:ext uri="{FF2B5EF4-FFF2-40B4-BE49-F238E27FC236}">
                <a16:creationId xmlns:a16="http://schemas.microsoft.com/office/drawing/2014/main" id="{641A4E9E-D066-0DDE-6545-56DCD6655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61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Social Network analysis &#10;Adjacency Matrix of the graph of Active users &#10;ser @user @use @user @user @user &#10;@user &#10;@user &#10;2 &#10;@user &#10;3 &#10;@user &#10;4 &#10;@user &#10;5 &#10;@user &#10;@user &#10;1 &#10;99 &#10;64 &#10;36 &#10;2 &#10;75 &#10;89 &#10;3 &#10;46 &#10;64 &#10;46 &#10;4 &#10;86 &#10;11 &#10;75 &#10;5 &#10;10 &#10;6 &#10;43 &#10;45 &#10;45 &#10;75 &#10;56 &#10;@user &#10;7 &#10;4 &#10;83 &#10;42 &#10;12 &#10;Let G(v,e) graph create &#10;Adjacency matrix form from &#10;the active users &#10;Vertex (v) : number of Users &#10;Edges (e) : retweets by users / &#10;mention to a user /reply to a &#10;tweet &#10;Weight(w) : no. of retweet or &#10;mention the name user inside &#10;a tweet ">
            <a:extLst>
              <a:ext uri="{FF2B5EF4-FFF2-40B4-BE49-F238E27FC236}">
                <a16:creationId xmlns:a16="http://schemas.microsoft.com/office/drawing/2014/main" id="{B61A91E6-A466-8F96-B625-AAA6905FA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17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Graphing the network centrality &#10;Degree centrality measure ( very connected users with relationship among &#10;others node) &#10;deg(V) &#10;C_deg(V) &#10;IN-Il &#10;Closeness : (how close to others node and They do not have to be very &#10;influential but are very active followers who broadcast information &#10;C(x) = &#10;Ey d(y, x) &#10;Betweenness : centrality(indicates the nodes included in the shortest path &#10;between most of the nodes. Low followers but connect many relevant nodes) &#10;g(v) = &#10;Where Ost is the total number of shortest paths from node s to node t. &#10;ost(v) &#10;V vis the number of those paths that pass through v. &#10;ast ">
            <a:extLst>
              <a:ext uri="{FF2B5EF4-FFF2-40B4-BE49-F238E27FC236}">
                <a16:creationId xmlns:a16="http://schemas.microsoft.com/office/drawing/2014/main" id="{9012719B-35F2-A187-6E8A-CB99EB8AC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653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Eigen vector : the number of links of a given user ,helps to computes &#10;not only your connection but the connection of whom you &#10;follow, &#10;Let be the adjacency matrix and relative centrality v is given by, &#10;¯ at',tæt &#10;t€M(t,) &#10;Where if vertex v is linked to vertex t and avj=O , otherwise &#10;M(v) is a set of the neighbors of v ,and X isa constant &#10;With small rearrangement this can be rewritten in vec.tor notation as the eigen vector equation &#10;Ax = Xx ">
            <a:extLst>
              <a:ext uri="{FF2B5EF4-FFF2-40B4-BE49-F238E27FC236}">
                <a16:creationId xmlns:a16="http://schemas.microsoft.com/office/drawing/2014/main" id="{C9DFCDFF-7DB6-B46C-2139-3062844FB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477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ighest &#10;betweenness Best &#10;centrality closeness &#10;centrality &#10;h &#10;a &#10;Highest &#10;eigenvector &#10;centrality &#10;s &#10;q &#10;Highest &#10;degree &#10;centrality ">
            <a:extLst>
              <a:ext uri="{FF2B5EF4-FFF2-40B4-BE49-F238E27FC236}">
                <a16:creationId xmlns:a16="http://schemas.microsoft.com/office/drawing/2014/main" id="{988372D8-3292-FF5E-FB53-2535AAB0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036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lustering use for classify influencers in &#10;profiles &#10;Fuzzy clustering: &#10;used to classify information in groups created from similarities among individuals. &#10;c: no. of cluster &#10;N: no. of data &#10;m : is any real number greater than I &#10;[Jif : is the degree of membership of Zi in &#10;the cluster j &#10;Zi : is the i-th of dimensional measured data &#10;: is the d-dimension center of the cluster &#10;I : is any norm expressing the similarity &#10;between an measure data and the center &#10;0.20 • ">
            <a:extLst>
              <a:ext uri="{FF2B5EF4-FFF2-40B4-BE49-F238E27FC236}">
                <a16:creationId xmlns:a16="http://schemas.microsoft.com/office/drawing/2014/main" id="{E07D7B2D-E954-E7FC-491D-AA4F199BF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976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ontinuing.. &#10;Where &#10;Fuzzy partition matrix of &#10;Vector of cluster centres &#10;U = [/Lik] e Mfc ">
            <a:extLst>
              <a:ext uri="{FF2B5EF4-FFF2-40B4-BE49-F238E27FC236}">
                <a16:creationId xmlns:a16="http://schemas.microsoft.com/office/drawing/2014/main" id="{3CEC2C1A-A2AF-0F0F-3B3D-E6B546203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023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onstraints and modification on &#10;this algorithm imposed &#10;Norm-inducing matrix &#10;which help to way with its determinant fixed corresponds to optimizing the &#10;cluster's shape while its volume remains constant &#10;Where constraint &#10;Modification &#10;I .adaptive distance measure for non spherical structure. &#10;L)2iiA = — Ai — Vi) &#10;2. Algorithms relaxing the condition on the probability of belonging to each &#10;segment indicating a level between each one of the groups ">
            <a:extLst>
              <a:ext uri="{FF2B5EF4-FFF2-40B4-BE49-F238E27FC236}">
                <a16:creationId xmlns:a16="http://schemas.microsoft.com/office/drawing/2014/main" id="{DE0D76D2-3229-FD33-0A01-BB95E4492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876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ontinuing.. &#10;Fuzzy covariance matrix &#10;of ith cluster &#10;— — Vi)T ">
            <a:extLst>
              <a:ext uri="{FF2B5EF4-FFF2-40B4-BE49-F238E27FC236}">
                <a16:creationId xmlns:a16="http://schemas.microsoft.com/office/drawing/2014/main" id="{7223E97A-442A-8611-E0BA-B4A7630BC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131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Fuzzy parameters determine in algorithm &#10;Number of clusters (most important to divide the data ) &#10;Fuzziness parameter (m effects significant to fuzziness in the segmentation ) &#10;Termination criterion ( to stop the algorithm here 1000 iteration or reach error &#10;lower than 0.005 ) &#10;Distance matrix (the calculation of distance implies establishing the scalar &#10;product matrix) ">
            <a:extLst>
              <a:ext uri="{FF2B5EF4-FFF2-40B4-BE49-F238E27FC236}">
                <a16:creationId xmlns:a16="http://schemas.microsoft.com/office/drawing/2014/main" id="{63E3FE22-D48F-FF57-6B8A-C1313B089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88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Gustafson-Kessel Algorithm &#10;The objective function of GK algorithm defined by &#10;J(Z; U, V, {Ail) = ">
            <a:extLst>
              <a:ext uri="{FF2B5EF4-FFF2-40B4-BE49-F238E27FC236}">
                <a16:creationId xmlns:a16="http://schemas.microsoft.com/office/drawing/2014/main" id="{8074B5F3-48FA-1247-909D-51215E9AF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78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Input data matrix &#10;Each observation consists of n measured variables, grouped into an n-dimensional &#10;column vector 4 , n &#10;A set of N observations is denoted by Z={ Zkl k= 1,2,...,N} and &#10;is represented as an n*N matrix. &#10;No. of observation &#10;Us &#10;er &#10;n &#10;user &#10;feature &#10;frequency &#10;Sentiment &#10;result &#10;Eigen &#10;vector &#10;@ mention &#10;Name of &#10;user &#10;Us &#10;er &#10;us us &#10;er er &#10;Zll &#10;Z21 &#10;znl &#10;Z12 &#10;Z22 &#10;zn2 &#10;ZIN &#10;Z2N &#10;znN ">
            <a:extLst>
              <a:ext uri="{FF2B5EF4-FFF2-40B4-BE49-F238E27FC236}">
                <a16:creationId xmlns:a16="http://schemas.microsoft.com/office/drawing/2014/main" id="{5C5610DB-885A-714F-2096-3C7CC92D2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757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Given the data set Z, choose the number of clusters I &lt; N , the weighting expo- &#10;nent I and the termination tolerance O and the cluster volumes p i. Initialize &#10;the partition matrix randomly, such that U (o) &#10;Repeat for I &#10;1,2,... &#10;Gustafson - &#10;Kessel &#10;algorithm &#10;Step I: &#10;Step 3: &#10;Step 4: &#10;Compute cluster prototypes (means): &#10;Compute the cluster covariance matrices: &#10;Compute the distances : &#10;102 &#10;Update the partition matrix: &#10;for &#10;if DikAi &gt; O for all i I &#10;until Il ">
            <a:extLst>
              <a:ext uri="{FF2B5EF4-FFF2-40B4-BE49-F238E27FC236}">
                <a16:creationId xmlns:a16="http://schemas.microsoft.com/office/drawing/2014/main" id="{FDC5BBE0-62C0-4296-D8BB-27FC2AB1F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97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Fuzzy partition matrix &#10;Initial condition &#10;U [Pik] e Mfc &#10;z2 &#10;Data &#10;Cluster &#10;cl &#10;zl &#10;zk &#10;Where, &#10;i represent cluster &#10;number &#10;k represent the data ">
            <a:extLst>
              <a:ext uri="{FF2B5EF4-FFF2-40B4-BE49-F238E27FC236}">
                <a16:creationId xmlns:a16="http://schemas.microsoft.com/office/drawing/2014/main" id="{22354FDC-0C9E-AF0E-F729-9B053BF41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123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= 2; 0.95 &#10;4.Result &#10;i. &#10;centers - 5; EPC — 0.54 &#10;1. &#10;centers - 8: EPC 0.35 &#10;Centers — 3; FPC — 0.86 &#10;centers — 6; EPC — 0.54 &#10;centers - 9; EPC — 0.44 &#10;Centers = 4; FPC = 0.80 &#10;centers — 7; EPC — 0.41 &#10;centers - 10: - 0.27 &#10;FIGURE 6: Results of the pro-lsis users with different leveis of segmentation. ">
            <a:extLst>
              <a:ext uri="{FF2B5EF4-FFF2-40B4-BE49-F238E27FC236}">
                <a16:creationId xmlns:a16="http://schemas.microsoft.com/office/drawing/2014/main" id="{AE01664D-D20F-BD84-CA1D-9A7C3B6D4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635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S H ( ( 111104S ">
            <a:extLst>
              <a:ext uri="{FF2B5EF4-FFF2-40B4-BE49-F238E27FC236}">
                <a16:creationId xmlns:a16="http://schemas.microsoft.com/office/drawing/2014/main" id="{B021E91E-DE8E-3EBF-5723-B2232AC18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547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6E662358-EC5E-C544-70E3-55C1F154A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712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Some Application &#10;Human resources departments can apply the power of profile &#10;identification to automatically classify candidates &#10;security teams can detect undesirable clients in the financial or &#10;insurance sectors. &#10;To identify the fake news about any company to damage &#10;economical damages. &#10;Political manipulation of significant number of voter by the &#10;influencers. ">
            <a:extLst>
              <a:ext uri="{FF2B5EF4-FFF2-40B4-BE49-F238E27FC236}">
                <a16:creationId xmlns:a16="http://schemas.microsoft.com/office/drawing/2014/main" id="{661AA171-7573-6A45-A141-26BE0524D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263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Thank You ">
            <a:extLst>
              <a:ext uri="{FF2B5EF4-FFF2-40B4-BE49-F238E27FC236}">
                <a16:creationId xmlns:a16="http://schemas.microsoft.com/office/drawing/2014/main" id="{CD775EDC-B893-D35A-5C5F-39FF558BE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0"/>
            <a:ext cx="8875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3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NIRMAL KUMAR</dc:creator>
  <cp:lastModifiedBy>NIRMAL KUMAR</cp:lastModifiedBy>
  <cp:revision>1</cp:revision>
  <dcterms:created xsi:type="dcterms:W3CDTF">2025-07-31T08:16:00Z</dcterms:created>
  <dcterms:modified xsi:type="dcterms:W3CDTF">2025-07-31T08:17:25Z</dcterms:modified>
</cp:coreProperties>
</file>